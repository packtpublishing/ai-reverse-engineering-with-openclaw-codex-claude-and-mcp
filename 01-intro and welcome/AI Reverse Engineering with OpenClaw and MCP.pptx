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8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24" r:id="rId1"/>
  </p:sldMasterIdLst>
  <p:notesMasterIdLst>
    <p:notesMasterId r:id="rId7"/>
  </p:notesMasterIdLst>
  <p:sldIdLst>
    <p:sldId id="257" r:id="rId2"/>
    <p:sldId id="261" r:id="rId3"/>
    <p:sldId id="263" r:id="rId4"/>
    <p:sldId id="262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63" autoAdjust="0"/>
    <p:restoredTop sz="95256" autoAdjust="0"/>
  </p:normalViewPr>
  <p:slideViewPr>
    <p:cSldViewPr snapToGrid="0">
      <p:cViewPr varScale="1">
        <p:scale>
          <a:sx n="106" d="100"/>
          <a:sy n="106" d="100"/>
        </p:scale>
        <p:origin x="136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35C8D-C786-402F-928B-53204D2910BF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CD245-9EE6-42EC-B21D-39EC27942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CD245-9EE6-42EC-B21D-39EC279427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81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CD245-9EE6-42EC-B21D-39EC279427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30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5CD245-9EE6-42EC-B21D-39EC279427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5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4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0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4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2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7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9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8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8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0434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0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2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22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06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64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B3F7F18-95BB-4AB9-B224-0BDFE66990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5C988D6-A8F6-490F-BB97-90AF66A83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5" r:id="rId1"/>
    <p:sldLayoutId id="2147484826" r:id="rId2"/>
    <p:sldLayoutId id="2147484827" r:id="rId3"/>
    <p:sldLayoutId id="2147484828" r:id="rId4"/>
    <p:sldLayoutId id="2147484829" r:id="rId5"/>
    <p:sldLayoutId id="2147484830" r:id="rId6"/>
    <p:sldLayoutId id="2147484831" r:id="rId7"/>
    <p:sldLayoutId id="2147484832" r:id="rId8"/>
    <p:sldLayoutId id="2147484833" r:id="rId9"/>
    <p:sldLayoutId id="2147484834" r:id="rId10"/>
    <p:sldLayoutId id="2147484835" r:id="rId11"/>
    <p:sldLayoutId id="2147484836" r:id="rId12"/>
    <p:sldLayoutId id="2147484837" r:id="rId13"/>
    <p:sldLayoutId id="2147484838" r:id="rId14"/>
    <p:sldLayoutId id="2147484839" r:id="rId15"/>
    <p:sldLayoutId id="2147484840" r:id="rId16"/>
    <p:sldLayoutId id="2147484841" r:id="rId17"/>
    <p:sldLayoutId id="214748484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52447" y="1249896"/>
            <a:ext cx="846319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Hi — I’m Dr. Paul Chin. Welcome to AI Reverse Engineering with </a:t>
            </a:r>
            <a:r>
              <a:rPr lang="en-GB" sz="1600" dirty="0" err="1"/>
              <a:t>OpenClaw</a:t>
            </a:r>
            <a:r>
              <a:rPr lang="en-GB" sz="1600" dirty="0"/>
              <a:t> &amp; MCP.</a:t>
            </a:r>
          </a:p>
          <a:p>
            <a:r>
              <a:rPr lang="en-GB" sz="1600" dirty="0"/>
              <a:t>Reverse engineering is changing.</a:t>
            </a:r>
          </a:p>
          <a:p>
            <a:endParaRPr lang="en-GB" sz="1600" dirty="0"/>
          </a:p>
          <a:p>
            <a:r>
              <a:rPr lang="en-GB" sz="1600" dirty="0"/>
              <a:t>For decades, reverse engineers have relied on powerful tools such as debuggers, disassemblers, and </a:t>
            </a:r>
            <a:r>
              <a:rPr lang="en-GB" sz="1600" dirty="0" err="1"/>
              <a:t>decompilers</a:t>
            </a:r>
            <a:r>
              <a:rPr lang="en-GB" sz="1600" dirty="0"/>
              <a:t>. But no matter how advanced the tools became, the analyst still had to perform most of the work manually.  Today, a new approach is emerging. By combining Large Language Models, the Model Context Protocol—or MCP—and </a:t>
            </a:r>
            <a:r>
              <a:rPr lang="en-GB" sz="1600" dirty="0" err="1"/>
              <a:t>OpenClaw</a:t>
            </a:r>
            <a:r>
              <a:rPr lang="en-GB" sz="1600" dirty="0"/>
              <a:t>, we can create AI-powered workflows where intelligent agents interact directly with reverse engineering tools and help automate complex analysis tasks.</a:t>
            </a:r>
          </a:p>
          <a:p>
            <a:endParaRPr lang="en-GB" sz="1600" dirty="0"/>
          </a:p>
          <a:p>
            <a:r>
              <a:rPr lang="en-GB" sz="1600" dirty="0"/>
              <a:t>In this course, you'll learn how to connect AI to real reverse engineering tools, enabling it to inspect binaries, gather information, </a:t>
            </a:r>
            <a:r>
              <a:rPr lang="en-GB" sz="1600" dirty="0" err="1"/>
              <a:t>analyze</a:t>
            </a:r>
            <a:r>
              <a:rPr lang="en-GB" sz="1600" dirty="0"/>
              <a:t> results, and assist you throughout the reversing process.</a:t>
            </a:r>
          </a:p>
          <a:p>
            <a:r>
              <a:rPr lang="en-GB" sz="1600" dirty="0"/>
              <a:t>This is much more than simply asking ChatGPT to explain assembly code.</a:t>
            </a:r>
          </a:p>
          <a:p>
            <a:r>
              <a:rPr lang="en-GB" sz="1600" dirty="0"/>
              <a:t>You'll learn how </a:t>
            </a:r>
            <a:r>
              <a:rPr lang="en-GB" sz="1600" dirty="0" err="1"/>
              <a:t>OpenClaw</a:t>
            </a:r>
            <a:r>
              <a:rPr lang="en-GB" sz="1600" dirty="0"/>
              <a:t> acts as the orchestrator, how MCP acts as the bridge between AI and tools, and how multiple tools can work together as part of a coordinated reverse engineering workflow.</a:t>
            </a:r>
          </a:p>
          <a:p>
            <a:endParaRPr lang="en-GB" sz="1600" dirty="0"/>
          </a:p>
          <a:p>
            <a:r>
              <a:rPr lang="en-GB" sz="1600" dirty="0"/>
              <a:t>Whether you're a reverse engineer, malware analyst, ethical hacker, penetration tester, or simply curious about the future of AI-driven cybersecurity, this course will give you a practical introduction to the next generation of reverse engineering.  AI is no longer just a helper.</a:t>
            </a:r>
          </a:p>
          <a:p>
            <a:r>
              <a:rPr lang="en-GB" sz="1600" dirty="0"/>
              <a:t>It can become a collaborator, a tool operator, and a workflow orchestrator.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15693-9D70-22F4-347F-4092CB3CED99}"/>
              </a:ext>
            </a:extLst>
          </p:cNvPr>
          <p:cNvSpPr txBox="1"/>
          <p:nvPr/>
        </p:nvSpPr>
        <p:spPr>
          <a:xfrm>
            <a:off x="414560" y="357261"/>
            <a:ext cx="7385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b="1" dirty="0"/>
              <a:t>AI Reverse Engineering with </a:t>
            </a:r>
            <a:r>
              <a:rPr lang="en-MY" sz="2800" b="1" dirty="0" err="1"/>
              <a:t>OpenClaw</a:t>
            </a:r>
            <a:r>
              <a:rPr lang="en-MY" sz="2800" b="1" dirty="0"/>
              <a:t> &amp; MCP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44C372-69B0-37AB-A808-F10DCAF7D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17" y="1364583"/>
            <a:ext cx="3263503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A9D581-0660-BA91-8744-E6E49BE22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935" y="256124"/>
            <a:ext cx="1766707" cy="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2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271" y="576598"/>
            <a:ext cx="8050306" cy="854665"/>
          </a:xfrm>
        </p:spPr>
        <p:txBody>
          <a:bodyPr>
            <a:normAutofit/>
          </a:bodyPr>
          <a:lstStyle/>
          <a:p>
            <a:r>
              <a:rPr lang="en-US" dirty="0"/>
              <a:t>What you will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841" y="1431263"/>
            <a:ext cx="8302942" cy="5100166"/>
          </a:xfrm>
        </p:spPr>
        <p:txBody>
          <a:bodyPr>
            <a:noAutofit/>
          </a:bodyPr>
          <a:lstStyle/>
          <a:p>
            <a:r>
              <a:rPr lang="en-GB" sz="1600" dirty="0"/>
              <a:t>What is Model Context Protocol (MCP) and how it connects AI to tools</a:t>
            </a:r>
            <a:endParaRPr lang="en-US" sz="1600" dirty="0"/>
          </a:p>
          <a:p>
            <a:r>
              <a:rPr lang="en-GB" sz="1400" dirty="0"/>
              <a:t>What is </a:t>
            </a:r>
            <a:r>
              <a:rPr lang="en-GB" sz="1400" dirty="0" err="1"/>
              <a:t>OpenClaw</a:t>
            </a:r>
            <a:r>
              <a:rPr lang="en-GB" sz="1400" dirty="0"/>
              <a:t> and how it enables multi-tool workflows</a:t>
            </a:r>
          </a:p>
          <a:p>
            <a:r>
              <a:rPr lang="en-GB" sz="1400" dirty="0"/>
              <a:t>How AI agents remember workflows</a:t>
            </a:r>
          </a:p>
          <a:p>
            <a:r>
              <a:rPr lang="en-GB" sz="1400" dirty="0"/>
              <a:t>Connecting AI to Debuggers</a:t>
            </a:r>
          </a:p>
          <a:p>
            <a:r>
              <a:rPr lang="en-GB" sz="1400" dirty="0"/>
              <a:t>Prompt engineering for binary analysis</a:t>
            </a:r>
          </a:p>
          <a:p>
            <a:r>
              <a:rPr lang="en-GB" sz="1400" dirty="0"/>
              <a:t>How to easily FIX </a:t>
            </a:r>
            <a:r>
              <a:rPr lang="en-GB" sz="1400" dirty="0" err="1"/>
              <a:t>OpenClaw</a:t>
            </a:r>
            <a:r>
              <a:rPr lang="en-GB" sz="1400" dirty="0"/>
              <a:t> issues</a:t>
            </a:r>
          </a:p>
          <a:p>
            <a:r>
              <a:rPr lang="en-GB" sz="1400" dirty="0"/>
              <a:t>Managing different AI Models</a:t>
            </a:r>
          </a:p>
          <a:p>
            <a:r>
              <a:rPr lang="en-GB" sz="1400" dirty="0"/>
              <a:t>Using Codex and Claude Code with </a:t>
            </a:r>
            <a:r>
              <a:rPr lang="en-GB" sz="1400" dirty="0" err="1"/>
              <a:t>OpenClaw</a:t>
            </a:r>
            <a:endParaRPr lang="en-GB" sz="1400" dirty="0"/>
          </a:p>
          <a:p>
            <a:r>
              <a:rPr lang="en-GB" sz="1400" dirty="0"/>
              <a:t>Dynamic and static </a:t>
            </a:r>
            <a:r>
              <a:rPr lang="en-GB" sz="1400" dirty="0" err="1"/>
              <a:t>analaysis</a:t>
            </a:r>
            <a:endParaRPr lang="en-GB" sz="1400" dirty="0"/>
          </a:p>
          <a:p>
            <a:r>
              <a:rPr lang="en-GB" sz="1400" dirty="0"/>
              <a:t>Connecting </a:t>
            </a:r>
            <a:r>
              <a:rPr lang="en-GB" sz="1400" dirty="0" err="1"/>
              <a:t>OpenClaw</a:t>
            </a:r>
            <a:r>
              <a:rPr lang="en-GB" sz="1400" dirty="0"/>
              <a:t> to x64dbg, </a:t>
            </a:r>
            <a:r>
              <a:rPr lang="en-GB" sz="1400" dirty="0" err="1"/>
              <a:t>ghidra</a:t>
            </a:r>
            <a:r>
              <a:rPr lang="en-GB" sz="1400" dirty="0"/>
              <a:t> and </a:t>
            </a:r>
            <a:r>
              <a:rPr lang="en-GB" sz="1400" dirty="0" err="1"/>
              <a:t>dnSpy</a:t>
            </a:r>
            <a:r>
              <a:rPr lang="en-GB" sz="1400" dirty="0"/>
              <a:t> using MCP</a:t>
            </a:r>
          </a:p>
          <a:p>
            <a:r>
              <a:rPr lang="en-GB" sz="1400" dirty="0"/>
              <a:t>Using </a:t>
            </a:r>
            <a:r>
              <a:rPr lang="en-GB" sz="1400" dirty="0" err="1"/>
              <a:t>OpenClaw</a:t>
            </a:r>
            <a:r>
              <a:rPr lang="en-GB" sz="1400" dirty="0"/>
              <a:t> to interpret assembly code to derive serial key</a:t>
            </a:r>
          </a:p>
          <a:p>
            <a:r>
              <a:rPr lang="en-GB" sz="1400" dirty="0"/>
              <a:t>Using </a:t>
            </a:r>
            <a:r>
              <a:rPr lang="en-GB" sz="1400" dirty="0" err="1"/>
              <a:t>OpenClaw</a:t>
            </a:r>
            <a:r>
              <a:rPr lang="en-GB" sz="1400" dirty="0"/>
              <a:t> to create keygens, bypass Trial Period, disable Nags</a:t>
            </a:r>
          </a:p>
          <a:p>
            <a:r>
              <a:rPr lang="en-GB" sz="1400" dirty="0"/>
              <a:t>And more . . .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000" dirty="0"/>
          </a:p>
          <a:p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12E0C-D9A7-7EE5-3AB9-D938DC4B0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935" y="229724"/>
            <a:ext cx="1766707" cy="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292" y="866954"/>
            <a:ext cx="7766638" cy="1293028"/>
          </a:xfrm>
        </p:spPr>
        <p:txBody>
          <a:bodyPr/>
          <a:lstStyle/>
          <a:p>
            <a:r>
              <a:rPr lang="en-US" dirty="0"/>
              <a:t>Who this course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090" y="2399110"/>
            <a:ext cx="8814367" cy="2216433"/>
          </a:xfrm>
        </p:spPr>
        <p:txBody>
          <a:bodyPr>
            <a:normAutofit/>
          </a:bodyPr>
          <a:lstStyle/>
          <a:p>
            <a:r>
              <a:rPr lang="en-GB" sz="1600" dirty="0"/>
              <a:t>Reverse engineers who want to increase their productivity by using AI</a:t>
            </a:r>
          </a:p>
          <a:p>
            <a:r>
              <a:rPr lang="en-GB" sz="1400" dirty="0"/>
              <a:t>Malware analysts looking to automate workflows</a:t>
            </a:r>
          </a:p>
          <a:p>
            <a:r>
              <a:rPr lang="en-GB" sz="1400" dirty="0"/>
              <a:t>Ethical hackers and </a:t>
            </a:r>
            <a:r>
              <a:rPr lang="en-GB" sz="1400" dirty="0" err="1"/>
              <a:t>pentesters</a:t>
            </a:r>
            <a:r>
              <a:rPr lang="en-GB" sz="1400" dirty="0"/>
              <a:t> exploring AI-driven tooling</a:t>
            </a:r>
          </a:p>
          <a:p>
            <a:r>
              <a:rPr lang="en-GB" sz="1400" dirty="0"/>
              <a:t>Developers curious about multi-tooling AI systems</a:t>
            </a:r>
          </a:p>
          <a:p>
            <a:r>
              <a:rPr lang="en-GB" sz="1400" dirty="0"/>
              <a:t>Anyone interested in AI + cybersecurity integration using </a:t>
            </a:r>
            <a:r>
              <a:rPr lang="en-GB" sz="1400" dirty="0" err="1"/>
              <a:t>OpenClaw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54E30-BE4C-8EFA-04D9-AAFB3C5705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989" y="220671"/>
            <a:ext cx="1766707" cy="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7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0046" y="942898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2219" y="3145113"/>
            <a:ext cx="6857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GB" dirty="0"/>
              <a:t>Familiarity with tools like debuggers or disassemblers (helpful, not required).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GB" dirty="0"/>
              <a:t>No prior AI experience needed — you’ll learn everything step-by-step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GB" dirty="0"/>
              <a:t>Windows PC running Windows 11 in Oracle VirtualBox.</a:t>
            </a:r>
            <a:endParaRPr lang="en-US" sz="2400" dirty="0"/>
          </a:p>
          <a:p>
            <a:pPr fontAlgn="base"/>
            <a:endParaRPr lang="en-US" sz="2400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0" y="365125"/>
            <a:ext cx="2018234" cy="16583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EEFEE4-8172-07AF-9FFD-85E4ED4262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095" y="293099"/>
            <a:ext cx="1766707" cy="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332" y="629969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My background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16" y="1848396"/>
            <a:ext cx="3149491" cy="2099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448042" y="3055979"/>
            <a:ext cx="52108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Semi-Retired College lecturer &amp; Cybersecurity Industry Trainer</a:t>
            </a:r>
          </a:p>
          <a:p>
            <a:endParaRPr lang="en-US" dirty="0"/>
          </a:p>
          <a:p>
            <a:r>
              <a:rPr lang="en-US" dirty="0"/>
              <a:t>PhD in Computer Science</a:t>
            </a:r>
          </a:p>
          <a:p>
            <a:endParaRPr lang="en-US" dirty="0"/>
          </a:p>
          <a:p>
            <a:r>
              <a:rPr lang="en-US" dirty="0"/>
              <a:t>More than 30 years’ experience teaching </a:t>
            </a:r>
          </a:p>
          <a:p>
            <a:r>
              <a:rPr lang="en-US" dirty="0"/>
              <a:t>Computer Science &amp; IT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1F2E11-84FD-30BC-9D96-43B3D6AD22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869" y="3269608"/>
            <a:ext cx="2069428" cy="1552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E339B-29CD-0C07-B534-13C1EA9E85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53" y="4397959"/>
            <a:ext cx="3201254" cy="2099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41B0BD-6420-3279-2B4F-6349D5B360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14" y="282711"/>
            <a:ext cx="1766707" cy="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6805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20" ma:contentTypeDescription="Create a new document." ma:contentTypeScope="" ma:versionID="bd97094569bc3b39987040056287c8be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4257c32d55561fea897e60b1a3f7010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</documentManagement>
</p:properties>
</file>

<file path=customXml/itemProps1.xml><?xml version="1.0" encoding="utf-8"?>
<ds:datastoreItem xmlns:ds="http://schemas.openxmlformats.org/officeDocument/2006/customXml" ds:itemID="{2EFB910E-AE5A-42EA-90CB-6940F6F081D2}"/>
</file>

<file path=customXml/itemProps2.xml><?xml version="1.0" encoding="utf-8"?>
<ds:datastoreItem xmlns:ds="http://schemas.openxmlformats.org/officeDocument/2006/customXml" ds:itemID="{DFD069AA-067F-4B97-B862-0928D3D4727B}"/>
</file>

<file path=customXml/itemProps3.xml><?xml version="1.0" encoding="utf-8"?>
<ds:datastoreItem xmlns:ds="http://schemas.openxmlformats.org/officeDocument/2006/customXml" ds:itemID="{FA679349-8FFA-472B-BEBF-E20582F6764D}"/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1612</TotalTime>
  <Words>472</Words>
  <Application>Microsoft Office PowerPoint</Application>
  <PresentationFormat>Widescreen</PresentationFormat>
  <Paragraphs>57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Tw Cen MT</vt:lpstr>
      <vt:lpstr>Droplet</vt:lpstr>
      <vt:lpstr>PowerPoint Presentation</vt:lpstr>
      <vt:lpstr>What you will learn</vt:lpstr>
      <vt:lpstr>Who this course is for</vt:lpstr>
      <vt:lpstr>Prerequisites</vt:lpstr>
      <vt:lpstr>My background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</dc:creator>
  <cp:lastModifiedBy>US</cp:lastModifiedBy>
  <cp:revision>126</cp:revision>
  <dcterms:created xsi:type="dcterms:W3CDTF">2019-05-20T03:14:17Z</dcterms:created>
  <dcterms:modified xsi:type="dcterms:W3CDTF">2026-06-02T02:53:30Z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1200900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