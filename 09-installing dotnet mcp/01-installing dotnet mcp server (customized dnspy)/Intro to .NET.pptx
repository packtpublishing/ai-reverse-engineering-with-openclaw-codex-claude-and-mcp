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varScale="1">
        <p:scale>
          <a:sx n="84" d="100"/>
          <a:sy n="84" d="100"/>
        </p:scale>
        <p:origin x="72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 Id="rId14"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D007E-42C4-6B0B-83CD-64131D1BFB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MY"/>
          </a:p>
        </p:txBody>
      </p:sp>
      <p:sp>
        <p:nvSpPr>
          <p:cNvPr id="3" name="Subtitle 2">
            <a:extLst>
              <a:ext uri="{FF2B5EF4-FFF2-40B4-BE49-F238E27FC236}">
                <a16:creationId xmlns:a16="http://schemas.microsoft.com/office/drawing/2014/main" id="{CEBB5613-8836-3830-4208-E55EA27675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767C9667-718A-123D-71E5-553C8F62E70B}"/>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5" name="Footer Placeholder 4">
            <a:extLst>
              <a:ext uri="{FF2B5EF4-FFF2-40B4-BE49-F238E27FC236}">
                <a16:creationId xmlns:a16="http://schemas.microsoft.com/office/drawing/2014/main" id="{94B3149D-4301-9D78-8F30-9628F7B28A22}"/>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617A7517-AE8D-74A5-240B-9F75FB8B2F0A}"/>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344862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C9874-95CA-01E6-0B8B-C3BC3A29C34D}"/>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4CF4DA74-16E0-2231-7216-3D945D9254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5561BA36-5D19-B544-AE78-2CB3C2738B7F}"/>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5" name="Footer Placeholder 4">
            <a:extLst>
              <a:ext uri="{FF2B5EF4-FFF2-40B4-BE49-F238E27FC236}">
                <a16:creationId xmlns:a16="http://schemas.microsoft.com/office/drawing/2014/main" id="{0EE66021-ADA5-AD9E-F9F3-8D5645BC3C98}"/>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85C60ECD-C0BC-2128-248D-FA966DD7E4FF}"/>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3999949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C9F7A-552A-81CF-12F7-C96AE3AF2B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6C487E3F-D2E3-7B02-CEC7-AF65514527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58E056-5C47-7D99-54B8-BA371B5A3666}"/>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5" name="Footer Placeholder 4">
            <a:extLst>
              <a:ext uri="{FF2B5EF4-FFF2-40B4-BE49-F238E27FC236}">
                <a16:creationId xmlns:a16="http://schemas.microsoft.com/office/drawing/2014/main" id="{FC815FAC-7572-80F0-73BD-F2AB2CB8054F}"/>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EEC4F740-3085-11D3-32A6-C6CF6680F38A}"/>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1945001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B22C5-D233-C987-1D7D-31E650B332D2}"/>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27497120-70F4-E2F9-C568-A94FE70607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48FB8EFA-8248-C362-91FC-D8A1949384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93E65E82-758C-39EC-9CBC-998130AF90FD}"/>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6" name="Footer Placeholder 5">
            <a:extLst>
              <a:ext uri="{FF2B5EF4-FFF2-40B4-BE49-F238E27FC236}">
                <a16:creationId xmlns:a16="http://schemas.microsoft.com/office/drawing/2014/main" id="{6FACBA5C-33EF-FCF4-4CD6-6AA1341C0FF0}"/>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15E8AC34-AD4E-4305-BE4C-80DA606D2A2C}"/>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34477192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49032-ED42-DF47-9CDB-5141CF7C4063}"/>
              </a:ext>
            </a:extLst>
          </p:cNvPr>
          <p:cNvSpPr>
            <a:spLocks noGrp="1"/>
          </p:cNvSpPr>
          <p:nvPr>
            <p:ph type="title"/>
          </p:nvPr>
        </p:nvSpPr>
        <p:spPr>
          <a:xfrm>
            <a:off x="839788" y="365125"/>
            <a:ext cx="105156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61C5ADD3-D08B-EB3A-8B23-A5F6721941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42DC50-6112-A1DC-D893-523340BE78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63EA2131-8C8E-B35B-E109-BB1F24A758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4ACAE-7B69-0A10-883A-42A019BEA0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9F6024C1-F2ED-EBA8-395B-214C5C7BF681}"/>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8" name="Footer Placeholder 7">
            <a:extLst>
              <a:ext uri="{FF2B5EF4-FFF2-40B4-BE49-F238E27FC236}">
                <a16:creationId xmlns:a16="http://schemas.microsoft.com/office/drawing/2014/main" id="{9B47DF30-67D9-A183-E5D3-93704B4C8621}"/>
              </a:ext>
            </a:extLst>
          </p:cNvPr>
          <p:cNvSpPr>
            <a:spLocks noGrp="1"/>
          </p:cNvSpPr>
          <p:nvPr>
            <p:ph type="ftr" sz="quarter" idx="11"/>
          </p:nvPr>
        </p:nvSpPr>
        <p:spPr/>
        <p:txBody>
          <a:bodyPr/>
          <a:lstStyle/>
          <a:p>
            <a:endParaRPr lang="en-MY"/>
          </a:p>
        </p:txBody>
      </p:sp>
      <p:sp>
        <p:nvSpPr>
          <p:cNvPr id="9" name="Slide Number Placeholder 8">
            <a:extLst>
              <a:ext uri="{FF2B5EF4-FFF2-40B4-BE49-F238E27FC236}">
                <a16:creationId xmlns:a16="http://schemas.microsoft.com/office/drawing/2014/main" id="{68A4EA0D-6B6D-686D-AF0C-7350EAF52177}"/>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2935267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BBDD4-7587-D8C7-A7F8-E2D1B8290510}"/>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2A486BC4-9070-03BD-8FC4-ABBB8AF084AE}"/>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4" name="Footer Placeholder 3">
            <a:extLst>
              <a:ext uri="{FF2B5EF4-FFF2-40B4-BE49-F238E27FC236}">
                <a16:creationId xmlns:a16="http://schemas.microsoft.com/office/drawing/2014/main" id="{FF559679-EA03-2F04-7F7F-D5BE4867519D}"/>
              </a:ext>
            </a:extLst>
          </p:cNvPr>
          <p:cNvSpPr>
            <a:spLocks noGrp="1"/>
          </p:cNvSpPr>
          <p:nvPr>
            <p:ph type="ftr" sz="quarter" idx="11"/>
          </p:nvPr>
        </p:nvSpPr>
        <p:spPr/>
        <p:txBody>
          <a:bodyPr/>
          <a:lstStyle/>
          <a:p>
            <a:endParaRPr lang="en-MY"/>
          </a:p>
        </p:txBody>
      </p:sp>
      <p:sp>
        <p:nvSpPr>
          <p:cNvPr id="5" name="Slide Number Placeholder 4">
            <a:extLst>
              <a:ext uri="{FF2B5EF4-FFF2-40B4-BE49-F238E27FC236}">
                <a16:creationId xmlns:a16="http://schemas.microsoft.com/office/drawing/2014/main" id="{D65330D3-5B2C-79B2-5C14-8B5AA69FDF90}"/>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3110226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5416B1-5776-4DF2-078E-83A354CD7483}"/>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3" name="Footer Placeholder 2">
            <a:extLst>
              <a:ext uri="{FF2B5EF4-FFF2-40B4-BE49-F238E27FC236}">
                <a16:creationId xmlns:a16="http://schemas.microsoft.com/office/drawing/2014/main" id="{06570C9C-9F09-5DB1-EA1A-F27723B53A33}"/>
              </a:ext>
            </a:extLst>
          </p:cNvPr>
          <p:cNvSpPr>
            <a:spLocks noGrp="1"/>
          </p:cNvSpPr>
          <p:nvPr>
            <p:ph type="ftr" sz="quarter" idx="11"/>
          </p:nvPr>
        </p:nvSpPr>
        <p:spPr/>
        <p:txBody>
          <a:bodyPr/>
          <a:lstStyle/>
          <a:p>
            <a:endParaRPr lang="en-MY"/>
          </a:p>
        </p:txBody>
      </p:sp>
      <p:sp>
        <p:nvSpPr>
          <p:cNvPr id="4" name="Slide Number Placeholder 3">
            <a:extLst>
              <a:ext uri="{FF2B5EF4-FFF2-40B4-BE49-F238E27FC236}">
                <a16:creationId xmlns:a16="http://schemas.microsoft.com/office/drawing/2014/main" id="{7BCD5362-0483-487B-8D92-82954AD4FADD}"/>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30433474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3159C-1EA3-BAC0-5E35-23E6B3523C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EDD261E7-BFB6-EEDC-5D1B-63FB2901FD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EFDD81CB-E662-F57F-B0B1-F42C41DD49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5BF4EC-A786-D253-1972-8416DF0E61C7}"/>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6" name="Footer Placeholder 5">
            <a:extLst>
              <a:ext uri="{FF2B5EF4-FFF2-40B4-BE49-F238E27FC236}">
                <a16:creationId xmlns:a16="http://schemas.microsoft.com/office/drawing/2014/main" id="{6003C339-ED1C-D80C-7E7C-C927BEADA8BC}"/>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258BE374-6003-7E84-3623-7FAD33F0684D}"/>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2787021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BCF7A-879E-2A2E-0459-43CD25A34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AE6CC9F2-D378-825B-9121-F92BF9AEEA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MY"/>
          </a:p>
        </p:txBody>
      </p:sp>
      <p:sp>
        <p:nvSpPr>
          <p:cNvPr id="4" name="Text Placeholder 3">
            <a:extLst>
              <a:ext uri="{FF2B5EF4-FFF2-40B4-BE49-F238E27FC236}">
                <a16:creationId xmlns:a16="http://schemas.microsoft.com/office/drawing/2014/main" id="{EDE38FB1-D609-8795-C4AA-2A04C34C94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4C4AA0-C7C2-6DF6-B073-07509F0DBFD1}"/>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6" name="Footer Placeholder 5">
            <a:extLst>
              <a:ext uri="{FF2B5EF4-FFF2-40B4-BE49-F238E27FC236}">
                <a16:creationId xmlns:a16="http://schemas.microsoft.com/office/drawing/2014/main" id="{9C07D719-B854-61DA-E9CA-C3CA66FE4194}"/>
              </a:ext>
            </a:extLst>
          </p:cNvPr>
          <p:cNvSpPr>
            <a:spLocks noGrp="1"/>
          </p:cNvSpPr>
          <p:nvPr>
            <p:ph type="ftr" sz="quarter" idx="11"/>
          </p:nvPr>
        </p:nvSpPr>
        <p:spPr/>
        <p:txBody>
          <a:bodyPr/>
          <a:lstStyle/>
          <a:p>
            <a:endParaRPr lang="en-MY"/>
          </a:p>
        </p:txBody>
      </p:sp>
      <p:sp>
        <p:nvSpPr>
          <p:cNvPr id="7" name="Slide Number Placeholder 6">
            <a:extLst>
              <a:ext uri="{FF2B5EF4-FFF2-40B4-BE49-F238E27FC236}">
                <a16:creationId xmlns:a16="http://schemas.microsoft.com/office/drawing/2014/main" id="{44BFC810-5D8E-56B2-8668-8A3214F2B4DB}"/>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3037623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ECDD-DC93-DE27-9C89-65EF0BC77295}"/>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9674B9A4-8888-F317-ECA4-55DE8083E0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66B85293-0511-2630-5719-C95F1C31737C}"/>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5" name="Footer Placeholder 4">
            <a:extLst>
              <a:ext uri="{FF2B5EF4-FFF2-40B4-BE49-F238E27FC236}">
                <a16:creationId xmlns:a16="http://schemas.microsoft.com/office/drawing/2014/main" id="{22ACF76B-EB5C-6B40-1625-80E7F5AB4A34}"/>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ABE27208-1FA8-EEEC-21BC-7C2BCAC53912}"/>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18019628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0EEA95-E47B-AC0F-125F-1762CEB98E5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DA91D50C-1E7F-FB9D-0F50-D5BC799641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76912216-C568-C885-7091-FC53E8834E3B}"/>
              </a:ext>
            </a:extLst>
          </p:cNvPr>
          <p:cNvSpPr>
            <a:spLocks noGrp="1"/>
          </p:cNvSpPr>
          <p:nvPr>
            <p:ph type="dt" sz="half" idx="10"/>
          </p:nvPr>
        </p:nvSpPr>
        <p:spPr/>
        <p:txBody>
          <a:bodyPr/>
          <a:lstStyle/>
          <a:p>
            <a:fld id="{6259D2D7-5819-47C3-A199-C1012DC9A033}" type="datetimeFigureOut">
              <a:rPr lang="en-MY" smtClean="0"/>
              <a:t>18/9/2025</a:t>
            </a:fld>
            <a:endParaRPr lang="en-MY"/>
          </a:p>
        </p:txBody>
      </p:sp>
      <p:sp>
        <p:nvSpPr>
          <p:cNvPr id="5" name="Footer Placeholder 4">
            <a:extLst>
              <a:ext uri="{FF2B5EF4-FFF2-40B4-BE49-F238E27FC236}">
                <a16:creationId xmlns:a16="http://schemas.microsoft.com/office/drawing/2014/main" id="{55F91A26-DD61-34A6-D5DA-AE29A45056D6}"/>
              </a:ext>
            </a:extLst>
          </p:cNvPr>
          <p:cNvSpPr>
            <a:spLocks noGrp="1"/>
          </p:cNvSpPr>
          <p:nvPr>
            <p:ph type="ftr" sz="quarter" idx="11"/>
          </p:nvPr>
        </p:nvSpPr>
        <p:spPr/>
        <p:txBody>
          <a:bodyPr/>
          <a:lstStyle/>
          <a:p>
            <a:endParaRPr lang="en-MY"/>
          </a:p>
        </p:txBody>
      </p:sp>
      <p:sp>
        <p:nvSpPr>
          <p:cNvPr id="6" name="Slide Number Placeholder 5">
            <a:extLst>
              <a:ext uri="{FF2B5EF4-FFF2-40B4-BE49-F238E27FC236}">
                <a16:creationId xmlns:a16="http://schemas.microsoft.com/office/drawing/2014/main" id="{73642C34-21F6-C578-70E7-F2997DC461D6}"/>
              </a:ext>
            </a:extLst>
          </p:cNvPr>
          <p:cNvSpPr>
            <a:spLocks noGrp="1"/>
          </p:cNvSpPr>
          <p:nvPr>
            <p:ph type="sldNum" sz="quarter" idx="12"/>
          </p:nvPr>
        </p:nvSpPr>
        <p:spPr/>
        <p:txBody>
          <a:bodyPr/>
          <a:lstStyle/>
          <a:p>
            <a:fld id="{8D1757D9-6605-474A-A565-D0FDF59FAF80}" type="slidenum">
              <a:rPr lang="en-MY" smtClean="0"/>
              <a:t>‹#›</a:t>
            </a:fld>
            <a:endParaRPr lang="en-MY"/>
          </a:p>
        </p:txBody>
      </p:sp>
    </p:spTree>
    <p:extLst>
      <p:ext uri="{BB962C8B-B14F-4D97-AF65-F5344CB8AC3E}">
        <p14:creationId xmlns:p14="http://schemas.microsoft.com/office/powerpoint/2010/main" val="604330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12AD62-34BA-C5ED-BC84-B6E141C482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F41872F2-2C1F-CEBF-4CCA-4C7A73761E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F860C009-C1D6-DD90-2BC6-C85FAA64C7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59D2D7-5819-47C3-A199-C1012DC9A033}" type="datetimeFigureOut">
              <a:rPr lang="en-MY" smtClean="0"/>
              <a:t>18/9/2025</a:t>
            </a:fld>
            <a:endParaRPr lang="en-MY"/>
          </a:p>
        </p:txBody>
      </p:sp>
      <p:sp>
        <p:nvSpPr>
          <p:cNvPr id="5" name="Footer Placeholder 4">
            <a:extLst>
              <a:ext uri="{FF2B5EF4-FFF2-40B4-BE49-F238E27FC236}">
                <a16:creationId xmlns:a16="http://schemas.microsoft.com/office/drawing/2014/main" id="{DC0F528E-0D50-AC81-A672-8B33CAEDF5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MY"/>
          </a:p>
        </p:txBody>
      </p:sp>
      <p:sp>
        <p:nvSpPr>
          <p:cNvPr id="6" name="Slide Number Placeholder 5">
            <a:extLst>
              <a:ext uri="{FF2B5EF4-FFF2-40B4-BE49-F238E27FC236}">
                <a16:creationId xmlns:a16="http://schemas.microsoft.com/office/drawing/2014/main" id="{C4ABF06B-D27D-6714-4E2F-AFEEF5B68E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1757D9-6605-474A-A565-D0FDF59FAF80}" type="slidenum">
              <a:rPr lang="en-MY" smtClean="0"/>
              <a:t>‹#›</a:t>
            </a:fld>
            <a:endParaRPr lang="en-MY"/>
          </a:p>
        </p:txBody>
      </p:sp>
    </p:spTree>
    <p:extLst>
      <p:ext uri="{BB962C8B-B14F-4D97-AF65-F5344CB8AC3E}">
        <p14:creationId xmlns:p14="http://schemas.microsoft.com/office/powerpoint/2010/main" val="880366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20308-8AB7-46B5-309A-6729C1817A1D}"/>
              </a:ext>
            </a:extLst>
          </p:cNvPr>
          <p:cNvSpPr>
            <a:spLocks noGrp="1"/>
          </p:cNvSpPr>
          <p:nvPr>
            <p:ph type="ctrTitle"/>
          </p:nvPr>
        </p:nvSpPr>
        <p:spPr/>
        <p:txBody>
          <a:bodyPr/>
          <a:lstStyle/>
          <a:p>
            <a:r>
              <a:rPr lang="en-MY">
                <a:solidFill>
                  <a:srgbClr val="FF0000"/>
                </a:solidFill>
              </a:rPr>
              <a:t>The Evolution of .NET</a:t>
            </a:r>
          </a:p>
        </p:txBody>
      </p:sp>
      <p:sp>
        <p:nvSpPr>
          <p:cNvPr id="3" name="Subtitle 2">
            <a:extLst>
              <a:ext uri="{FF2B5EF4-FFF2-40B4-BE49-F238E27FC236}">
                <a16:creationId xmlns:a16="http://schemas.microsoft.com/office/drawing/2014/main" id="{17A07F0F-6CCA-2280-2EB2-B2881E9FCDE2}"/>
              </a:ext>
            </a:extLst>
          </p:cNvPr>
          <p:cNvSpPr>
            <a:spLocks noGrp="1"/>
          </p:cNvSpPr>
          <p:nvPr>
            <p:ph type="subTitle" idx="1"/>
          </p:nvPr>
        </p:nvSpPr>
        <p:spPr/>
        <p:txBody>
          <a:bodyPr/>
          <a:lstStyle/>
          <a:p>
            <a:r>
              <a:rPr lang="en-MY"/>
              <a:t>Framework to Unified Platform</a:t>
            </a:r>
            <a:endParaRPr lang="en-MY">
              <a:solidFill>
                <a:srgbClr val="FF0000"/>
              </a:solidFill>
            </a:endParaRPr>
          </a:p>
        </p:txBody>
      </p:sp>
    </p:spTree>
    <p:extLst>
      <p:ext uri="{BB962C8B-B14F-4D97-AF65-F5344CB8AC3E}">
        <p14:creationId xmlns:p14="http://schemas.microsoft.com/office/powerpoint/2010/main" val="1616815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96275-C51C-3FDD-E17D-8F94979145CD}"/>
              </a:ext>
            </a:extLst>
          </p:cNvPr>
          <p:cNvSpPr>
            <a:spLocks noGrp="1"/>
          </p:cNvSpPr>
          <p:nvPr>
            <p:ph type="title"/>
          </p:nvPr>
        </p:nvSpPr>
        <p:spPr/>
        <p:txBody>
          <a:bodyPr/>
          <a:lstStyle/>
          <a:p>
            <a:r>
              <a:rPr lang="en-MY">
                <a:solidFill>
                  <a:srgbClr val="FF0000"/>
                </a:solidFill>
              </a:rPr>
              <a:t>.NET Framework (2002-2019)</a:t>
            </a:r>
          </a:p>
        </p:txBody>
      </p:sp>
      <p:sp>
        <p:nvSpPr>
          <p:cNvPr id="3" name="Content Placeholder 2">
            <a:extLst>
              <a:ext uri="{FF2B5EF4-FFF2-40B4-BE49-F238E27FC236}">
                <a16:creationId xmlns:a16="http://schemas.microsoft.com/office/drawing/2014/main" id="{6043EB03-AC35-009B-6A65-B432BEC5CAD1}"/>
              </a:ext>
            </a:extLst>
          </p:cNvPr>
          <p:cNvSpPr>
            <a:spLocks noGrp="1"/>
          </p:cNvSpPr>
          <p:nvPr>
            <p:ph idx="1"/>
          </p:nvPr>
        </p:nvSpPr>
        <p:spPr/>
        <p:txBody>
          <a:bodyPr/>
          <a:lstStyle/>
          <a:p>
            <a:pPr marL="0" indent="0">
              <a:buNone/>
            </a:pPr>
            <a:r>
              <a:rPr lang="en-US"/>
              <a:t>The original .NET Framework was Microsoft's first implementation, designed exclusively for Windows. Versions ranged from 1.0 to 4.8, with each release adding new features but maintaining Windows-only compatibility. Applications built on .NET Framework are tied to the specific version installed on the target machine.</a:t>
            </a:r>
            <a:endParaRPr lang="en-MY"/>
          </a:p>
        </p:txBody>
      </p:sp>
    </p:spTree>
    <p:extLst>
      <p:ext uri="{BB962C8B-B14F-4D97-AF65-F5344CB8AC3E}">
        <p14:creationId xmlns:p14="http://schemas.microsoft.com/office/powerpoint/2010/main" val="3879270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EC9F5-E851-F37B-B519-56AB30352508}"/>
              </a:ext>
            </a:extLst>
          </p:cNvPr>
          <p:cNvSpPr>
            <a:spLocks noGrp="1"/>
          </p:cNvSpPr>
          <p:nvPr>
            <p:ph type="title"/>
          </p:nvPr>
        </p:nvSpPr>
        <p:spPr/>
        <p:txBody>
          <a:bodyPr/>
          <a:lstStyle/>
          <a:p>
            <a:r>
              <a:rPr lang="en-MY">
                <a:solidFill>
                  <a:srgbClr val="FF0000"/>
                </a:solidFill>
              </a:rPr>
              <a:t>.NET Core (2016-2020)</a:t>
            </a:r>
          </a:p>
        </p:txBody>
      </p:sp>
      <p:sp>
        <p:nvSpPr>
          <p:cNvPr id="3" name="Content Placeholder 2">
            <a:extLst>
              <a:ext uri="{FF2B5EF4-FFF2-40B4-BE49-F238E27FC236}">
                <a16:creationId xmlns:a16="http://schemas.microsoft.com/office/drawing/2014/main" id="{B49D3159-9759-DBAF-33E6-05D6CE7FBE68}"/>
              </a:ext>
            </a:extLst>
          </p:cNvPr>
          <p:cNvSpPr>
            <a:spLocks noGrp="1"/>
          </p:cNvSpPr>
          <p:nvPr>
            <p:ph idx="1"/>
          </p:nvPr>
        </p:nvSpPr>
        <p:spPr/>
        <p:txBody>
          <a:bodyPr/>
          <a:lstStyle/>
          <a:p>
            <a:pPr marL="0" indent="0">
              <a:buNone/>
            </a:pPr>
            <a:r>
              <a:rPr lang="en-US"/>
              <a:t>Microsoft created .NET Core as a complete rewrite to address the Framework's limitations. This version was cross-platform (Windows, macOS, Linux), open-source, and modular .NET Core went through versions 1.0, 1.1, 2.0, 2.1, 2.2, and 3.0/3.1. </a:t>
            </a:r>
            <a:endParaRPr lang="en-MY"/>
          </a:p>
        </p:txBody>
      </p:sp>
    </p:spTree>
    <p:extLst>
      <p:ext uri="{BB962C8B-B14F-4D97-AF65-F5344CB8AC3E}">
        <p14:creationId xmlns:p14="http://schemas.microsoft.com/office/powerpoint/2010/main" val="276782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CA908-DC2C-0AE4-EF7C-F6DD75EAC225}"/>
              </a:ext>
            </a:extLst>
          </p:cNvPr>
          <p:cNvSpPr>
            <a:spLocks noGrp="1"/>
          </p:cNvSpPr>
          <p:nvPr>
            <p:ph type="title"/>
          </p:nvPr>
        </p:nvSpPr>
        <p:spPr/>
        <p:txBody>
          <a:bodyPr/>
          <a:lstStyle/>
          <a:p>
            <a:r>
              <a:rPr lang="en-MY">
                <a:solidFill>
                  <a:srgbClr val="FF0000"/>
                </a:solidFill>
              </a:rPr>
              <a:t>.NET 5+ (2020-present)</a:t>
            </a:r>
          </a:p>
        </p:txBody>
      </p:sp>
      <p:sp>
        <p:nvSpPr>
          <p:cNvPr id="3" name="Content Placeholder 2">
            <a:extLst>
              <a:ext uri="{FF2B5EF4-FFF2-40B4-BE49-F238E27FC236}">
                <a16:creationId xmlns:a16="http://schemas.microsoft.com/office/drawing/2014/main" id="{C971F01A-3125-4E6E-B60E-854477028D5C}"/>
              </a:ext>
            </a:extLst>
          </p:cNvPr>
          <p:cNvSpPr>
            <a:spLocks noGrp="1"/>
          </p:cNvSpPr>
          <p:nvPr>
            <p:ph idx="1"/>
          </p:nvPr>
        </p:nvSpPr>
        <p:spPr/>
        <p:txBody>
          <a:bodyPr/>
          <a:lstStyle/>
          <a:p>
            <a:pPr marL="0" indent="0">
              <a:buNone/>
            </a:pPr>
            <a:r>
              <a:rPr lang="en-US"/>
              <a:t>Starting with .NET 5, Microsoft unified the ecosystem under a single ".NET" brand (dropping "Core" from the name). This represents the convergence of .NET Framework and .NET Core into one platform. The versioning jumped from .NET Core 3.1 directly to .NET 5 to avoid confusion with .NET Framework 4.x. </a:t>
            </a:r>
            <a:endParaRPr lang="en-MY"/>
          </a:p>
        </p:txBody>
      </p:sp>
    </p:spTree>
    <p:extLst>
      <p:ext uri="{BB962C8B-B14F-4D97-AF65-F5344CB8AC3E}">
        <p14:creationId xmlns:p14="http://schemas.microsoft.com/office/powerpoint/2010/main" val="3614990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1724C-8682-F22B-4779-CBFC4A4FC614}"/>
              </a:ext>
            </a:extLst>
          </p:cNvPr>
          <p:cNvSpPr>
            <a:spLocks noGrp="1"/>
          </p:cNvSpPr>
          <p:nvPr>
            <p:ph type="title"/>
          </p:nvPr>
        </p:nvSpPr>
        <p:spPr/>
        <p:txBody>
          <a:bodyPr/>
          <a:lstStyle/>
          <a:p>
            <a:r>
              <a:rPr lang="en-MY">
                <a:solidFill>
                  <a:srgbClr val="FF0000"/>
                </a:solidFill>
              </a:rPr>
              <a:t>Key Differences</a:t>
            </a:r>
          </a:p>
        </p:txBody>
      </p:sp>
      <p:sp>
        <p:nvSpPr>
          <p:cNvPr id="3" name="Content Placeholder 2">
            <a:extLst>
              <a:ext uri="{FF2B5EF4-FFF2-40B4-BE49-F238E27FC236}">
                <a16:creationId xmlns:a16="http://schemas.microsoft.com/office/drawing/2014/main" id="{6E1C29B3-4343-1ACC-D4DC-55148546F3CC}"/>
              </a:ext>
            </a:extLst>
          </p:cNvPr>
          <p:cNvSpPr>
            <a:spLocks noGrp="1"/>
          </p:cNvSpPr>
          <p:nvPr>
            <p:ph idx="1"/>
          </p:nvPr>
        </p:nvSpPr>
        <p:spPr/>
        <p:txBody>
          <a:bodyPr>
            <a:normAutofit/>
          </a:bodyPr>
          <a:lstStyle/>
          <a:p>
            <a:pPr marL="0" indent="0">
              <a:buNone/>
            </a:pPr>
            <a:r>
              <a:rPr lang="en-US" sz="2400" b="1"/>
              <a:t>Platform Support</a:t>
            </a:r>
            <a:r>
              <a:rPr lang="en-US" sz="2400"/>
              <a:t>: .NET Framework is Windows-only, while .NET Core/.NET 5+ runs everywhere. </a:t>
            </a:r>
          </a:p>
          <a:p>
            <a:pPr marL="0" indent="0">
              <a:buNone/>
            </a:pPr>
            <a:r>
              <a:rPr lang="en-US" sz="2400" b="1"/>
              <a:t>Performance</a:t>
            </a:r>
            <a:r>
              <a:rPr lang="en-US" sz="2400"/>
              <a:t>: .NET Core and later versions are significantly faster and more memory-efficient. </a:t>
            </a:r>
          </a:p>
          <a:p>
            <a:pPr marL="0" indent="0">
              <a:buNone/>
            </a:pPr>
            <a:r>
              <a:rPr lang="en-US" sz="2400" b="1"/>
              <a:t>Deployment</a:t>
            </a:r>
            <a:r>
              <a:rPr lang="en-US" sz="2400"/>
              <a:t>: .NET Framework requires the runtime to be pre-installed on the target machine, while modern .NET supports self-contained deployments that include the runtime. </a:t>
            </a:r>
          </a:p>
          <a:p>
            <a:pPr marL="0" indent="0">
              <a:buNone/>
            </a:pPr>
            <a:r>
              <a:rPr lang="en-US" sz="2400" b="1"/>
              <a:t>Open Source</a:t>
            </a:r>
            <a:r>
              <a:rPr lang="en-US" sz="2400"/>
              <a:t>: .NET Framework is proprietary, while .NET Core/.NET 5+ is open-source and community-driven.</a:t>
            </a:r>
            <a:endParaRPr lang="en-MY" sz="2400"/>
          </a:p>
        </p:txBody>
      </p:sp>
    </p:spTree>
    <p:extLst>
      <p:ext uri="{BB962C8B-B14F-4D97-AF65-F5344CB8AC3E}">
        <p14:creationId xmlns:p14="http://schemas.microsoft.com/office/powerpoint/2010/main" val="584923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55DAA-18BD-BA5D-AE56-E0423B287416}"/>
              </a:ext>
            </a:extLst>
          </p:cNvPr>
          <p:cNvSpPr>
            <a:spLocks noGrp="1"/>
          </p:cNvSpPr>
          <p:nvPr>
            <p:ph type="title"/>
          </p:nvPr>
        </p:nvSpPr>
        <p:spPr/>
        <p:txBody>
          <a:bodyPr/>
          <a:lstStyle/>
          <a:p>
            <a:r>
              <a:rPr lang="en-MY">
                <a:solidFill>
                  <a:srgbClr val="FF0000"/>
                </a:solidFill>
              </a:rPr>
              <a:t>Evolution Timeline</a:t>
            </a:r>
          </a:p>
        </p:txBody>
      </p:sp>
      <p:sp>
        <p:nvSpPr>
          <p:cNvPr id="3" name="Content Placeholder 2">
            <a:extLst>
              <a:ext uri="{FF2B5EF4-FFF2-40B4-BE49-F238E27FC236}">
                <a16:creationId xmlns:a16="http://schemas.microsoft.com/office/drawing/2014/main" id="{B5C9FBB6-9094-6590-2A29-BCF7A4A253DD}"/>
              </a:ext>
            </a:extLst>
          </p:cNvPr>
          <p:cNvSpPr>
            <a:spLocks noGrp="1"/>
          </p:cNvSpPr>
          <p:nvPr>
            <p:ph idx="1"/>
          </p:nvPr>
        </p:nvSpPr>
        <p:spPr/>
        <p:txBody>
          <a:bodyPr>
            <a:normAutofit/>
          </a:bodyPr>
          <a:lstStyle/>
          <a:p>
            <a:pPr marL="0" indent="0">
              <a:buNone/>
            </a:pPr>
            <a:r>
              <a:rPr lang="en-US" sz="2400"/>
              <a:t>The evolution reflects Microsoft's shift from Windows-centric to cloud-first, cross-platform development. </a:t>
            </a:r>
            <a:endParaRPr lang="en-MY" sz="2400"/>
          </a:p>
        </p:txBody>
      </p:sp>
    </p:spTree>
    <p:extLst>
      <p:ext uri="{BB962C8B-B14F-4D97-AF65-F5344CB8AC3E}">
        <p14:creationId xmlns:p14="http://schemas.microsoft.com/office/powerpoint/2010/main" val="9810275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5EC4FAED17FD4FA002B715A7CB3129" ma:contentTypeVersion="20" ma:contentTypeDescription="Create a new document." ma:contentTypeScope="" ma:versionID="bd97094569bc3b39987040056287c8be">
  <xsd:schema xmlns:xsd="http://www.w3.org/2001/XMLSchema" xmlns:xs="http://www.w3.org/2001/XMLSchema" xmlns:p="http://schemas.microsoft.com/office/2006/metadata/properties" xmlns:ns2="92e4be8c-5aca-45ec-8e17-deab1f90d7c8" xmlns:ns3="92b31412-8c8f-44f1-a883-141cef3f34cc" targetNamespace="http://schemas.microsoft.com/office/2006/metadata/properties" ma:root="true" ma:fieldsID="34257c32d55561fea897e60b1a3f7010" ns2:_="" ns3:_="">
    <xsd:import namespace="92e4be8c-5aca-45ec-8e17-deab1f90d7c8"/>
    <xsd:import namespace="92b31412-8c8f-44f1-a883-141cef3f34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AutoKeyPoints" minOccurs="0"/>
                <xsd:element ref="ns3:MediaServiceKeyPoints" minOccurs="0"/>
                <xsd:element ref="ns3:Duratio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e4be8c-5aca-45ec-8e17-deab1f90d7c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795d2f5-1cbf-45cb-9409-0dc909a94953}" ma:internalName="TaxCatchAll" ma:showField="CatchAllData" ma:web="92e4be8c-5aca-45ec-8e17-deab1f90d7c8">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2b31412-8c8f-44f1-a883-141cef3f34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Duration" ma:index="19" nillable="true" ma:displayName="Duration" ma:internalName="Duration">
      <xsd:simpleType>
        <xsd:restriction base="dms:Text">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c4206cbd-ed67-49c0-b8a0-af32ee4f262e"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2b31412-8c8f-44f1-a883-141cef3f34cc">
      <Terms xmlns="http://schemas.microsoft.com/office/infopath/2007/PartnerControls"/>
    </lcf76f155ced4ddcb4097134ff3c332f>
    <TaxCatchAll xmlns="92e4be8c-5aca-45ec-8e17-deab1f90d7c8" xsi:nil="true"/>
    <Duration xmlns="92b31412-8c8f-44f1-a883-141cef3f34cc" xsi:nil="true"/>
  </documentManagement>
</p:properties>
</file>

<file path=customXml/itemProps1.xml><?xml version="1.0" encoding="utf-8"?>
<ds:datastoreItem xmlns:ds="http://schemas.openxmlformats.org/officeDocument/2006/customXml" ds:itemID="{EB75D8FE-37A1-4444-8D28-3D129C0C4036}"/>
</file>

<file path=customXml/itemProps2.xml><?xml version="1.0" encoding="utf-8"?>
<ds:datastoreItem xmlns:ds="http://schemas.openxmlformats.org/officeDocument/2006/customXml" ds:itemID="{1BB33F8B-A37D-4C6A-A62B-13304C7DD897}"/>
</file>

<file path=customXml/itemProps3.xml><?xml version="1.0" encoding="utf-8"?>
<ds:datastoreItem xmlns:ds="http://schemas.openxmlformats.org/officeDocument/2006/customXml" ds:itemID="{8A1605E0-9429-48F6-A942-B8F0F6D5D823}"/>
</file>

<file path=docProps/app.xml><?xml version="1.0" encoding="utf-8"?>
<Properties xmlns="http://schemas.openxmlformats.org/officeDocument/2006/extended-properties" xmlns:vt="http://schemas.openxmlformats.org/officeDocument/2006/docPropsVTypes">
  <TotalTime>0</TotalTime>
  <Words>296</Words>
  <Application>Microsoft Office PowerPoint</Application>
  <PresentationFormat>Widescreen</PresentationFormat>
  <Paragraphs>15</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The Evolution of .NET</vt:lpstr>
      <vt:lpstr>.NET Framework (2002-2019)</vt:lpstr>
      <vt:lpstr>.NET Core (2016-2020)</vt:lpstr>
      <vt:lpstr>.NET 5+ (2020-present)</vt:lpstr>
      <vt:lpstr>Key Differences</vt:lpstr>
      <vt:lpstr>Evolution Timeline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 Chin</dc:creator>
  <cp:lastModifiedBy>Paul Chin</cp:lastModifiedBy>
  <cp:revision>1</cp:revision>
  <dcterms:created xsi:type="dcterms:W3CDTF">2025-09-18T04:26:54Z</dcterms:created>
  <dcterms:modified xsi:type="dcterms:W3CDTF">2025-09-18T04:27:52Z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0x010100AF5EC4FAED17FD4FA002B715A7CB3129</vt:lpwstr>
  </property>
  <property fmtid="{D5CDD505-2E9C-101B-9397-08002B2CF9AE}" pid="3" name="Order">
    <vt:r8>1207400</vt:r8>
  </property>
  <property fmtid="{D5CDD505-2E9C-101B-9397-08002B2CF9AE}" pid="4" name="TriggerFlowInfo">
    <vt:lpwstr/>
  </property>
  <property fmtid="{D5CDD505-2E9C-101B-9397-08002B2CF9AE}" pid="5" name="_SourceUrl">
    <vt:lpwstr/>
  </property>
  <property fmtid="{D5CDD505-2E9C-101B-9397-08002B2CF9AE}" pid="6" name="_SharedFileIndex">
    <vt:lpwstr/>
  </property>
  <property fmtid="{D5CDD505-2E9C-101B-9397-08002B2CF9AE}" pid="7" name="ComplianceAssetId">
    <vt:lpwstr/>
  </property>
  <property fmtid="{D5CDD505-2E9C-101B-9397-08002B2CF9AE}" pid="8" name="_ExtendedDescription">
    <vt:lpwstr/>
  </property>
</Properties>
</file>